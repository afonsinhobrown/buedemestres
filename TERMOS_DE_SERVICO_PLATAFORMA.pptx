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00000" y="-900000"/>
            <a:ext cx="4200000" cy="4200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00000" y="4200000"/>
            <a:ext cx="2600000" cy="2600000"/>
          </a:xfrm>
          <a:prstGeom prst="ellipse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700000"/>
            <a:ext cx="7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C61A"/>
                </a:solidFill>
                <a:latin typeface="Calibri"/>
              </a:rPr>
              <a:t>TERMOS E CONDIÇÕES DE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250000"/>
            <a:ext cx="85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Termos de Serviço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550000"/>
            <a:ext cx="76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EDF0F2"/>
                </a:solidFill>
                <a:latin typeface="Calibri"/>
              </a:rPr>
              <a:t>Aplicáveis a visitantes, clientes e profissionais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EDF0F2"/>
                </a:solidFill>
                <a:latin typeface="Calibri"/>
              </a:rPr>
              <a:t>(mestres) da plataforma Bué de Mestres.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5300000"/>
            <a:ext cx="7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F3A21"/>
                </a:solidFill>
                <a:latin typeface="Calibri"/>
              </a:rPr>
              <a:t>Versão 1.0 · Outubro 2026 · PROJECTO — não publicar sem revisão jurídica em Moçambique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1–2. Aceitação e definições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Serviço · Bué de Mestres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350000"/>
            <a:ext cx="112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Criar conta ou usar a plataforma = aceitar estes Termos na totalidade.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Contas: pessoais e intransferíveis; conteúdo verdadeiro e atualizado.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Definições-chave: Cliente · Mestre · Pedido · Orçamento · Trabalho · Escrow · Carteira · KYC · Comissão · Plano.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Complementadas por Políticas de Privacidade, Cookies e Regras de Avaliação.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Menores de 18 anos só com autorização do responsável parental [a definir].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3. A Plataforma é apenas um intermediário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Serviço · Bué de Mestres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400000"/>
            <a:ext cx="112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A Bué de Mestres não presta nem executa serviços — só liga as partes.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O contrato é entre Cliente e Mestre; a Plataforma não é parte.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Ela facilita: descoberta, comunicação, marcação, pagamento e avaliações.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A responsabilidade pela execução, qualidade, prazos, seguros e licenças é do Mestre.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Não garante que cada Mestre execute bem — por isso existem KYC, retenção, avaliações e disputas.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5100000"/>
            <a:ext cx="11200000" cy="11000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0000" y="5100000"/>
            <a:ext cx="70000" cy="1100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0000" y="5280000"/>
            <a:ext cx="107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2163A"/>
                </a:solidFill>
                <a:latin typeface="Calibri"/>
              </a:rPr>
              <a:t>Em resumo: quem faz o serviço é o Mestre; a Plataforma organiza e protege o processo.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5–6. Obrigações das partes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Serviço · Bué de Mestres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300000"/>
            <a:ext cx="5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444C8"/>
                </a:solidFill>
                <a:latin typeface="Calibri"/>
              </a:rPr>
              <a:t>Cliente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80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Descrever o serviço com verdade.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Dar acesso e condições seguras.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Confirmar apenas o que foi executado.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Comunicar pela plataforma (sem acordos paralelos).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Sem conteúdo ilegal ou spam.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Pagar pelos meios suportados.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000" y="1300000"/>
            <a:ext cx="5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444C8"/>
                </a:solidFill>
                <a:latin typeface="Calibri"/>
              </a:rPr>
              <a:t>Mestre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180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Executar com competência e pontualidade.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Informação verdadeira e atualizada.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Licenças, fiscais e seguros são seus.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Comparecer aos trabalhos aceites.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Preço acordado pela plataforma antes de começar.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Sem cobrança direta fora da plataforma.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7. Como se contrata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Serviço · Bué de Mestres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0000" y="1350000"/>
          <a:ext cx="112000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000"/>
                <a:gridCol w="5600000"/>
              </a:tblGrid>
              <a:tr h="56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Modo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Como funciona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Imediato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Ofertas a mestres próximos com 60 segundos para aceitar; o primeiro aceite inicia o trabalho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Agendado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Pedido publicado → orçamentos com preço e prazo → o cliente escolhe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Expiração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Sem aceitação, o pedido expira; rondas repetem com raio alargado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Preço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Nada é devido até o cliente confirmar o preço acordado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0000" y="4400000"/>
            <a:ext cx="112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444C8"/>
                </a:solidFill>
                <a:latin typeface="Calibri"/>
              </a:rPr>
              <a:t>Estados do trabalho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4850000"/>
            <a:ext cx="11200000" cy="1150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000" y="505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EDF0F2"/>
                </a:solidFill>
                <a:latin typeface="Consolas"/>
              </a:rPr>
              <a:t>pedido → proposta → aceite → a caminho → no local → preço proposto → preço acordado e pago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EDF0F2"/>
                </a:solidFill>
                <a:latin typeface="Consolas"/>
              </a:rPr>
              <a:t>→ em curso → aguardar confirmação → concluído → liquidado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8. Preços, pagamentos e retenção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Serviço · Bué de Mestres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350000"/>
            <a:ext cx="112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Confirmar o preço = autorizar o pagamento e a RETENÇÃO pela plataforma até à conclusão.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Confirmar a conclusão = libertação ao mestre, menos a comissão: 12% Grátis / 8% Pro / 5% Premium.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Meios: carteira, carregamentos, M-Pesa/e-Mola e modo manual com comprovativo validado.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Cancelamentos: sem custo antes da deslocação · taxa a definir depois · reembolso total se falhar o mestre.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Disputas: valor fica retido até decisão; incumprido → devolve ao cliente; cumprido → paga ao mestre.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Reembolsos: só por erro ou incumprimento comprovado.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2163A"/>
                </a:solidFill>
                <a:latin typeface="Calibri"/>
              </a:rPr>
              <a:t>•  Fundos retidos em gestão segregada [enquadramento legal a definir].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9. Planos, destaques e afiliados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Serviço · Bué de Mestres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0000" y="1350000"/>
          <a:ext cx="112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000"/>
                <a:gridCol w="5600000"/>
              </a:tblGrid>
              <a:tr h="60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Produto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Regra</a:t>
                      </a:r>
                    </a:p>
                  </a:txBody>
                  <a:tcPr>
                    <a:solidFill>
                      <a:srgbClr val="12163A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Planos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Grátis / Pro 500 MZN / Premium 1.500 MZN [a definir] — uma subscrição ativa por mestre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Renovação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Pagamento adiantado, não reembolsável salvo erro; renovação automática [a definir]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Destaques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Pagamento pontual por prioridade, pelo tempo e preço anunciados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Afiliados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10% sobre carregamentos do indicado durante 90 dias [antifraude a definir]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Publicidade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63A"/>
                          </a:solidFill>
                          <a:latin typeface="Calibri"/>
                        </a:rPr>
                        <a:t>Banners de terceiros sempre identificados</a:t>
                      </a:r>
                    </a:p>
                  </a:txBody>
                  <a:tcPr>
                    <a:solidFill>
                      <a:srgbClr val="EDF0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0000" y="5200000"/>
            <a:ext cx="11200000" cy="1000000"/>
          </a:xfrm>
          <a:prstGeom prst="rect">
            <a:avLst/>
          </a:prstGeom>
          <a:solidFill>
            <a:srgbClr val="ED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0000" y="5200000"/>
            <a:ext cx="70000" cy="1000000"/>
          </a:xfrm>
          <a:prstGeom prst="rect">
            <a:avLst/>
          </a:prstGeom>
          <a:solidFill>
            <a:srgbClr val="1E7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0000" y="5380000"/>
            <a:ext cx="107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2163A"/>
                </a:solidFill>
                <a:latin typeface="Calibri"/>
              </a:rPr>
              <a:t>O cliente continua a não pagar nada à plataforma pelo serviço em 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10–11. Avaliações, conteúdo e KYC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Serviço · Bué de Mestres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400000"/>
            <a:ext cx="112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Avaliar só quem tem trabalho CONCLUÍDO — uma avaliação por trabalho.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Mestre pode responder publicamente; fabrico de avaliações = encerrar conta.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O utilizador mantém os seus conteúdos e dá licença de exibição à plataforma.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Proibido: ilegal, ofensivo, spam, contornar a plataforma, scraping, reverse engineering.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KYC: documento + selfie + prova de vida, comparação automatizada + revisão humana.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Dados de KYC só para verificação e segurança, com acesso restrito.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Verificação identifica a pessoa — NÃO certifica competência profissional.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12–13. Privacidade e limitação de responsabilidade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Serviço · Bué de Mestres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350000"/>
            <a:ext cx="112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GPS partilhado apenas com o mestre aceite, durante o trabalho.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Legislação moçambicana de protecção de dados; direitos de acesso, correção e eliminação.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Medidas: HTTPS, senhas cifradas, controlo por papéis, auditoria.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A plataforma NÃO responde pela qualidade do serviço, por danos indirectos, por acordos fora da plataforma nem por falhas de terceiros.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Responsabilidade total limitada às comissões dos 12 meses anteriores [a definir com jurídico].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14–16. Suspensão, alterações e litígios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Serviço · Bué de Mestres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400000"/>
            <a:ext cx="112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>
                <a:solidFill>
                  <a:srgbClr val="12163A"/>
                </a:solidFill>
                <a:latin typeface="Calibri"/>
              </a:rPr>
              <a:t>•  Suspensão/encerramento por violação, fraude, risco ou obrigação legal (avisando quando possível).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12163A"/>
                </a:solidFill>
                <a:latin typeface="Calibri"/>
              </a:rPr>
              <a:t>•  Trabalhos em curso seguem as regras de cancelamento e disputa.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12163A"/>
                </a:solidFill>
                <a:latin typeface="Calibri"/>
              </a:rPr>
              <a:t>•  Alterações aos Termos com 15 dias de aviso; usar depois disso = aceitar.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12163A"/>
                </a:solidFill>
                <a:latin typeface="Calibri"/>
              </a:rPr>
              <a:t>•  Lei moçambicana; tentativa de resolução amigável em 30 dias via apoio.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12163A"/>
                </a:solidFill>
                <a:latin typeface="Calibri"/>
              </a:rPr>
              <a:t>•  Na falta: Comarca de Maputo [a definir].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00000" y="-700000"/>
            <a:ext cx="3200000" cy="3200000"/>
          </a:xfrm>
          <a:prstGeom prst="ellipse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8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C61A"/>
                </a:solidFill>
                <a:latin typeface="Calibri"/>
              </a:rPr>
              <a:t>RESUMO DO ESSENCIAL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500000"/>
            <a:ext cx="10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 Plataforma liga, não executa — quem faz o serviço é o Mestre.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700000"/>
            <a:ext cx="103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>
                <a:solidFill>
                  <a:srgbClr val="EDF0F2"/>
                </a:solidFill>
                <a:latin typeface="Calibri"/>
              </a:rPr>
              <a:t>•  O Cliente paga e o valor fica RETIDO até confirmar que o trabalho está feito.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EDF0F2"/>
                </a:solidFill>
                <a:latin typeface="Calibri"/>
              </a:rPr>
              <a:t>•  O Mestre recebe menos a comissão (12% / 8% / 5%) no momento da libertação.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EDF0F2"/>
                </a:solidFill>
                <a:latin typeface="Calibri"/>
              </a:rPr>
              <a:t>•  Avaliações só de trabalhos concluídos; identidade verificada ≠ competência certificada.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EDF0F2"/>
                </a:solidFill>
                <a:latin typeface="Calibri"/>
              </a:rPr>
              <a:t>•  Quem descumpre é suspenso — com registo e sistema de disputas.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44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33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2163A"/>
                </a:solidFill>
                <a:latin typeface="Calibri"/>
              </a:rPr>
              <a:t>Antes de publicar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000" y="1020000"/>
            <a:ext cx="1400000" cy="45720"/>
          </a:xfrm>
          <a:prstGeom prst="rect">
            <a:avLst/>
          </a:prstGeom>
          <a:solidFill>
            <a:srgbClr val="FFC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0000" y="6300000"/>
            <a:ext cx="1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63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Termos de Serviço · Bué de Mestres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400000"/>
            <a:ext cx="112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Revisão jurídica obrigatória em Moçambique (escrow, protecção de dados, responsabilidade).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Fechar os pontos [a definir]: idade mínima, canal de apoio, taxas de cancelamento, custódia de valores, prazos de payout, limites de responsabilidade, foro.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Fixar entidade responsável, morada e contactos institucionais.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2163A"/>
                </a:solidFill>
                <a:latin typeface="Calibri"/>
              </a:rPr>
              <a:t>•  Alinhar com a Política de Privacidade e as regras reais da plataforma.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5100000"/>
            <a:ext cx="11200000" cy="1100000"/>
          </a:xfrm>
          <a:prstGeom prst="rect">
            <a:avLst/>
          </a:prstGeom>
          <a:solidFill>
            <a:srgbClr val="BF3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0000" y="5280000"/>
            <a:ext cx="107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NÃO PUBLICAR sem revisão jurídica — este documento é um projecto, não o termo final.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