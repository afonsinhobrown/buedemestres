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216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600000" y="-900000"/>
            <a:ext cx="4200000" cy="4200000"/>
          </a:xfrm>
          <a:prstGeom prst="rect">
            <a:avLst/>
          </a:prstGeom>
          <a:solidFill>
            <a:srgbClr val="2444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9400000" y="4200000"/>
            <a:ext cx="2600000" cy="2600000"/>
          </a:xfrm>
          <a:prstGeom prst="ellipse">
            <a:avLst/>
          </a:prstGeom>
          <a:solidFill>
            <a:srgbClr val="FFC6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00000" y="1700000"/>
            <a:ext cx="7500000" cy="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>
                <a:solidFill>
                  <a:srgbClr val="FFC61A"/>
                </a:solidFill>
                <a:latin typeface="Calibri"/>
              </a:rPr>
              <a:t>DOCUMENTO DE ESPECIFICAÇÃO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00000" y="2250000"/>
            <a:ext cx="8500000" cy="1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5200" b="1">
                <a:solidFill>
                  <a:srgbClr val="FFFFFF"/>
                </a:solidFill>
                <a:latin typeface="Calibri"/>
              </a:rPr>
              <a:t>Termos de Referência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0000" y="3550000"/>
            <a:ext cx="7600000" cy="1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2200" b="0">
                <a:solidFill>
                  <a:srgbClr val="EDF0F2"/>
                </a:solidFill>
                <a:latin typeface="Calibri"/>
              </a:rPr>
              <a:t>Plataforma Bué de Mestres — conclusão até piloto:</a:t>
            </a:r>
          </a:p>
          <a:p>
            <a:pPr algn="l">
              <a:spcAft>
                <a:spcPts val="400"/>
              </a:spcAft>
            </a:pPr>
            <a:r>
              <a:rPr sz="2200" b="0">
                <a:solidFill>
                  <a:srgbClr val="EDF0F2"/>
                </a:solidFill>
                <a:latin typeface="Calibri"/>
              </a:rPr>
              <a:t>âmbito, requisitos, entregáveis, prazos e</a:t>
            </a:r>
          </a:p>
          <a:p>
            <a:pPr algn="l">
              <a:spcAft>
                <a:spcPts val="400"/>
              </a:spcAft>
            </a:pPr>
            <a:r>
              <a:rPr sz="2200" b="0">
                <a:solidFill>
                  <a:srgbClr val="EDF0F2"/>
                </a:solidFill>
                <a:latin typeface="Calibri"/>
              </a:rPr>
              <a:t>critérios de aceitação.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00000" y="5500000"/>
            <a:ext cx="7600000" cy="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5B6472"/>
                </a:solidFill>
                <a:latin typeface="Calibri"/>
              </a:rPr>
              <a:t>Versão 1.0 · Outubro 2026 · a partir da análise do código e da documentação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2444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0000" y="330000"/>
            <a:ext cx="9500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>
                <a:solidFill>
                  <a:srgbClr val="12163A"/>
                </a:solidFill>
                <a:latin typeface="Calibri"/>
              </a:rPr>
              <a:t>1. Objectivos e âmbulo</a:t>
            </a:r>
          </a:p>
        </p:txBody>
      </p:sp>
      <p:sp>
        <p:nvSpPr>
          <p:cNvPr id="5" name="Rectangle 4"/>
          <p:cNvSpPr/>
          <p:nvPr/>
        </p:nvSpPr>
        <p:spPr>
          <a:xfrm>
            <a:off x="500000" y="1020000"/>
            <a:ext cx="1400000" cy="45720"/>
          </a:xfrm>
          <a:prstGeom prst="rect">
            <a:avLst/>
          </a:prstGeom>
          <a:solidFill>
            <a:srgbClr val="FFC6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400000" y="6300000"/>
            <a:ext cx="130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600"/>
              </a:spcAft>
            </a:pPr>
            <a:r>
              <a:rPr sz="1200" b="0">
                <a:solidFill>
                  <a:srgbClr val="5B6472"/>
                </a:solidFill>
                <a:latin typeface="Calibri"/>
              </a:rPr>
              <a:t>2 / 12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0000" y="6300000"/>
            <a:ext cx="600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>
                <a:solidFill>
                  <a:srgbClr val="5B6472"/>
                </a:solidFill>
                <a:latin typeface="Calibri"/>
              </a:rPr>
              <a:t>Termos de Referência · Bué de Mestres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0000" y="1400000"/>
            <a:ext cx="11200000" cy="4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1700">
                <a:solidFill>
                  <a:srgbClr val="12163A"/>
                </a:solidFill>
                <a:latin typeface="Calibri"/>
              </a:rPr>
              <a:t>•  Objectivo geral: plataforma pronta para piloto numa cidade — pesquisa por proximidade, KYC, escrow e back-office.</a:t>
            </a:r>
          </a:p>
          <a:p>
            <a:pPr>
              <a:spcAft>
                <a:spcPts val="1200"/>
              </a:spcAft>
            </a:pPr>
            <a:r>
              <a:rPr sz="1700">
                <a:solidFill>
                  <a:srgbClr val="12163A"/>
                </a:solidFill>
                <a:latin typeface="Calibri"/>
              </a:rPr>
              <a:t>•  Eliminar as fragilidades críticas de segurança identificadas na análise de código.</a:t>
            </a:r>
          </a:p>
          <a:p>
            <a:pPr>
              <a:spcAft>
                <a:spcPts val="1200"/>
              </a:spcAft>
            </a:pPr>
            <a:r>
              <a:rPr sz="1700">
                <a:solidFill>
                  <a:srgbClr val="12163A"/>
                </a:solidFill>
                <a:latin typeface="Calibri"/>
              </a:rPr>
              <a:t>•  Ligar chat, orçamentos e pesquisa à base de dados (hoje em demonstração).</a:t>
            </a:r>
          </a:p>
          <a:p>
            <a:pPr>
              <a:spcAft>
                <a:spcPts val="1200"/>
              </a:spcAft>
            </a:pPr>
            <a:r>
              <a:rPr sz="1700">
                <a:solidFill>
                  <a:srgbClr val="12163A"/>
                </a:solidFill>
                <a:latin typeface="Calibri"/>
              </a:rPr>
              <a:t>•  Implementar despacho on-demand automático (atribuição por proximidade).</a:t>
            </a:r>
          </a:p>
          <a:p>
            <a:pPr>
              <a:spcAft>
                <a:spcPts val="1200"/>
              </a:spcAft>
            </a:pPr>
            <a:r>
              <a:rPr sz="1700">
                <a:solidFill>
                  <a:srgbClr val="12163A"/>
                </a:solidFill>
                <a:latin typeface="Calibri"/>
              </a:rPr>
              <a:t>•  Integrar pagamentos M-Pesa/e-Mola e fornecedor de KYC.</a:t>
            </a:r>
          </a:p>
          <a:p>
            <a:pPr>
              <a:spcAft>
                <a:spcPts val="1200"/>
              </a:spcAft>
            </a:pPr>
            <a:r>
              <a:rPr sz="1700">
                <a:solidFill>
                  <a:srgbClr val="12163A"/>
                </a:solidFill>
                <a:latin typeface="Calibri"/>
              </a:rPr>
              <a:t>•  Testes automatizados, documentação operacional e conformidade legal.</a:t>
            </a:r>
          </a:p>
          <a:p>
            <a:pPr>
              <a:spcAft>
                <a:spcPts val="1200"/>
              </a:spcAft>
            </a:pPr>
            <a:r>
              <a:rPr sz="1700">
                <a:solidFill>
                  <a:srgbClr val="12163A"/>
                </a:solidFill>
                <a:latin typeface="Calibri"/>
              </a:rPr>
              <a:t>•  Publicar nas lojas e arrancar o piloto.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2444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0000" y="330000"/>
            <a:ext cx="9500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>
                <a:solidFill>
                  <a:srgbClr val="12163A"/>
                </a:solidFill>
                <a:latin typeface="Calibri"/>
              </a:rPr>
              <a:t>2. Âmbulo — inclui / exclui</a:t>
            </a:r>
          </a:p>
        </p:txBody>
      </p:sp>
      <p:sp>
        <p:nvSpPr>
          <p:cNvPr id="5" name="Rectangle 4"/>
          <p:cNvSpPr/>
          <p:nvPr/>
        </p:nvSpPr>
        <p:spPr>
          <a:xfrm>
            <a:off x="500000" y="1020000"/>
            <a:ext cx="1400000" cy="45720"/>
          </a:xfrm>
          <a:prstGeom prst="rect">
            <a:avLst/>
          </a:prstGeom>
          <a:solidFill>
            <a:srgbClr val="FFC6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400000" y="6300000"/>
            <a:ext cx="130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600"/>
              </a:spcAft>
            </a:pPr>
            <a:r>
              <a:rPr sz="1200" b="0">
                <a:solidFill>
                  <a:srgbClr val="5B6472"/>
                </a:solidFill>
                <a:latin typeface="Calibri"/>
              </a:rPr>
              <a:t>3 / 12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0000" y="6300000"/>
            <a:ext cx="600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>
                <a:solidFill>
                  <a:srgbClr val="5B6472"/>
                </a:solidFill>
                <a:latin typeface="Calibri"/>
              </a:rPr>
              <a:t>Termos de Referência · Bué de Mestres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00000" y="1350000"/>
          <a:ext cx="11200000" cy="420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600000"/>
                <a:gridCol w="5600000"/>
              </a:tblGrid>
              <a:tr h="525000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Calibri"/>
                        </a:rPr>
                        <a:t>Inclui (resumo)</a:t>
                      </a:r>
                    </a:p>
                  </a:txBody>
                  <a:tcPr>
                    <a:solidFill>
                      <a:srgbClr val="1216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Calibri"/>
                        </a:rPr>
                        <a:t>Exclui</a:t>
                      </a:r>
                    </a:p>
                  </a:txBody>
                  <a:tcPr>
                    <a:solidFill>
                      <a:srgbClr val="12163A"/>
                    </a:solidFill>
                  </a:tcPr>
                </a:tc>
              </a:tr>
              <a:tr h="525000"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12163A"/>
                          </a:solidFill>
                          <a:latin typeface="Calibri"/>
                        </a:rPr>
                        <a:t>Correcção das 3 críticas (rota /, admin, CSS)</a:t>
                      </a:r>
                    </a:p>
                  </a:txBody>
                  <a:tcPr>
                    <a:solidFill>
                      <a:srgbClr val="EDF0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12163A"/>
                          </a:solidFill>
                          <a:latin typeface="Calibri"/>
                        </a:rPr>
                        <a:t>Licenças e quotas cloud (Neon, Supabase…)</a:t>
                      </a:r>
                    </a:p>
                  </a:txBody>
                  <a:tcPr>
                    <a:solidFill>
                      <a:srgbClr val="EDF0F2"/>
                    </a:solidFill>
                  </a:tcPr>
                </a:tc>
              </a:tr>
              <a:tr h="525000"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12163A"/>
                          </a:solidFill>
                          <a:latin typeface="Calibri"/>
                        </a:rPr>
                        <a:t>Sessão em todas as actions + RLS completa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12163A"/>
                          </a:solidFill>
                          <a:latin typeface="Calibri"/>
                        </a:rPr>
                        <a:t>Apps para tablet/wearables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25000"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12163A"/>
                          </a:solidFill>
                          <a:latin typeface="Calibri"/>
                        </a:rPr>
                        <a:t>Chat/orçamentos/pesquisa ligados à BD</a:t>
                      </a:r>
                    </a:p>
                  </a:txBody>
                  <a:tcPr>
                    <a:solidFill>
                      <a:srgbClr val="EDF0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12163A"/>
                          </a:solidFill>
                          <a:latin typeface="Calibri"/>
                        </a:rPr>
                        <a:t>Marketing e aquisição de clientes</a:t>
                      </a:r>
                    </a:p>
                  </a:txBody>
                  <a:tcPr>
                    <a:solidFill>
                      <a:srgbClr val="EDF0F2"/>
                    </a:solidFill>
                  </a:tcPr>
                </a:tc>
              </a:tr>
              <a:tr h="525000"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12163A"/>
                          </a:solidFill>
                          <a:latin typeface="Calibri"/>
                        </a:rPr>
                        <a:t>Worker de despacho + crons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12163A"/>
                          </a:solidFill>
                          <a:latin typeface="Calibri"/>
                        </a:rPr>
                        <a:t>Constituição jurídica e contas comerciais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25000"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12163A"/>
                          </a:solidFill>
                          <a:latin typeface="Calibri"/>
                        </a:rPr>
                        <a:t>Pagamentos com webhook + KYC integrado</a:t>
                      </a:r>
                    </a:p>
                  </a:txBody>
                  <a:tcPr>
                    <a:solidFill>
                      <a:srgbClr val="EDF0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12163A"/>
                          </a:solidFill>
                          <a:latin typeface="Calibri"/>
                        </a:rPr>
                        <a:t>Reestruturação de identidade visual</a:t>
                      </a:r>
                    </a:p>
                  </a:txBody>
                  <a:tcPr>
                    <a:solidFill>
                      <a:srgbClr val="EDF0F2"/>
                    </a:solidFill>
                  </a:tcPr>
                </a:tc>
              </a:tr>
              <a:tr h="525000"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12163A"/>
                          </a:solidFill>
                          <a:latin typeface="Calibri"/>
                        </a:rPr>
                        <a:t>Testes, SEO/PWA, páginas legais, docs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</a:tr>
              <a:tr h="525000"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12163A"/>
                          </a:solidFill>
                          <a:latin typeface="Calibri"/>
                        </a:rPr>
                        <a:t>Garantia de 8 semanas + acompanhamento do piloto</a:t>
                      </a:r>
                    </a:p>
                  </a:txBody>
                  <a:tcPr>
                    <a:solidFill>
                      <a:srgbClr val="EDF0F2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EDF0F2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2444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0000" y="330000"/>
            <a:ext cx="9500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>
                <a:solidFill>
                  <a:srgbClr val="12163A"/>
                </a:solidFill>
                <a:latin typeface="Calibri"/>
              </a:rPr>
              <a:t>3. Requisitos — Segurança (R1 = piloto)</a:t>
            </a:r>
          </a:p>
        </p:txBody>
      </p:sp>
      <p:sp>
        <p:nvSpPr>
          <p:cNvPr id="5" name="Rectangle 4"/>
          <p:cNvSpPr/>
          <p:nvPr/>
        </p:nvSpPr>
        <p:spPr>
          <a:xfrm>
            <a:off x="500000" y="1020000"/>
            <a:ext cx="1400000" cy="45720"/>
          </a:xfrm>
          <a:prstGeom prst="rect">
            <a:avLst/>
          </a:prstGeom>
          <a:solidFill>
            <a:srgbClr val="FFC6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400000" y="6300000"/>
            <a:ext cx="130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600"/>
              </a:spcAft>
            </a:pPr>
            <a:r>
              <a:rPr sz="1200" b="0">
                <a:solidFill>
                  <a:srgbClr val="5B6472"/>
                </a:solidFill>
                <a:latin typeface="Calibri"/>
              </a:rPr>
              <a:t>4 / 12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0000" y="6300000"/>
            <a:ext cx="600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>
                <a:solidFill>
                  <a:srgbClr val="5B6472"/>
                </a:solidFill>
                <a:latin typeface="Calibri"/>
              </a:rPr>
              <a:t>Termos de Referência · Bué de Mestres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00000" y="1350000"/>
          <a:ext cx="11200000" cy="430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33333"/>
                <a:gridCol w="3733333"/>
                <a:gridCol w="3733334"/>
              </a:tblGrid>
              <a:tr h="614285"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ID</a:t>
                      </a:r>
                    </a:p>
                  </a:txBody>
                  <a:tcPr>
                    <a:solidFill>
                      <a:srgbClr val="1216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Requisito</a:t>
                      </a:r>
                    </a:p>
                  </a:txBody>
                  <a:tcPr>
                    <a:solidFill>
                      <a:srgbClr val="1216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Critério</a:t>
                      </a:r>
                    </a:p>
                  </a:txBody>
                  <a:tcPr>
                    <a:solidFill>
                      <a:srgbClr val="12163A"/>
                    </a:solidFill>
                  </a:tcPr>
                </a:tc>
              </a:tr>
              <a:tr h="614285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12163A"/>
                          </a:solidFill>
                          <a:latin typeface="Calibri"/>
                        </a:rPr>
                        <a:t>RF-SEG-01/02/03</a:t>
                      </a:r>
                    </a:p>
                  </a:txBody>
                  <a:tcPr>
                    <a:solidFill>
                      <a:srgbClr val="EDF0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12163A"/>
                          </a:solidFill>
                          <a:latin typeface="Calibri"/>
                        </a:rPr>
                        <a:t>Rota / única · admin protegido · CSS reposto</a:t>
                      </a:r>
                    </a:p>
                  </a:txBody>
                  <a:tcPr>
                    <a:solidFill>
                      <a:srgbClr val="EDF0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12163A"/>
                          </a:solidFill>
                          <a:latin typeface="Calibri"/>
                        </a:rPr>
                        <a:t>Build limpo; anónimo bloqueado; tokens completos</a:t>
                      </a:r>
                    </a:p>
                  </a:txBody>
                  <a:tcPr>
                    <a:solidFill>
                      <a:srgbClr val="EDF0F2"/>
                    </a:solidFill>
                  </a:tcPr>
                </a:tc>
              </a:tr>
              <a:tr h="614285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12163A"/>
                          </a:solidFill>
                          <a:latin typeface="Calibri"/>
                        </a:rPr>
                        <a:t>RF-SEG-04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12163A"/>
                          </a:solidFill>
                          <a:latin typeface="Calibri"/>
                        </a:rPr>
                        <a:t>Sessão em todas as actions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12163A"/>
                          </a:solidFill>
                          <a:latin typeface="Calibri"/>
                        </a:rPr>
                        <a:t>Teste automatizado sem sessão = recusado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14285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12163A"/>
                          </a:solidFill>
                          <a:latin typeface="Calibri"/>
                        </a:rPr>
                        <a:t>RF-SEG-05</a:t>
                      </a:r>
                    </a:p>
                  </a:txBody>
                  <a:tcPr>
                    <a:solidFill>
                      <a:srgbClr val="EDF0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12163A"/>
                          </a:solidFill>
                          <a:latin typeface="Calibri"/>
                        </a:rPr>
                        <a:t>RLS completa</a:t>
                      </a:r>
                    </a:p>
                  </a:txBody>
                  <a:tcPr>
                    <a:solidFill>
                      <a:srgbClr val="EDF0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12163A"/>
                          </a:solidFill>
                          <a:latin typeface="Calibri"/>
                        </a:rPr>
                        <a:t>wallets, payments, payouts, KYC, messages</a:t>
                      </a:r>
                    </a:p>
                  </a:txBody>
                  <a:tcPr>
                    <a:solidFill>
                      <a:srgbClr val="EDF0F2"/>
                    </a:solidFill>
                  </a:tcPr>
                </a:tc>
              </a:tr>
              <a:tr h="614285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12163A"/>
                          </a:solidFill>
                          <a:latin typeface="Calibri"/>
                        </a:rPr>
                        <a:t>RF-SEG-06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12163A"/>
                          </a:solidFill>
                          <a:latin typeface="Calibri"/>
                        </a:rPr>
                        <a:t>Webhook assinado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12163A"/>
                          </a:solidFill>
                          <a:latin typeface="Calibri"/>
                        </a:rPr>
                        <a:t>Replays rejeitados; idempotente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14285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12163A"/>
                          </a:solidFill>
                          <a:latin typeface="Calibri"/>
                        </a:rPr>
                        <a:t>RF-SEG-07/08</a:t>
                      </a:r>
                    </a:p>
                  </a:txBody>
                  <a:tcPr>
                    <a:solidFill>
                      <a:srgbClr val="EDF0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12163A"/>
                          </a:solidFill>
                          <a:latin typeface="Calibri"/>
                        </a:rPr>
                        <a:t>Rate limiting · /dev/design fora</a:t>
                      </a:r>
                    </a:p>
                  </a:txBody>
                  <a:tcPr>
                    <a:solidFill>
                      <a:srgbClr val="EDF0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12163A"/>
                          </a:solidFill>
                          <a:latin typeface="Calibri"/>
                        </a:rPr>
                        <a:t>Limites por IP/conta; rota inexistente em prod</a:t>
                      </a:r>
                    </a:p>
                  </a:txBody>
                  <a:tcPr>
                    <a:solidFill>
                      <a:srgbClr val="EDF0F2"/>
                    </a:solidFill>
                  </a:tcPr>
                </a:tc>
              </a:tr>
              <a:tr h="614290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12163A"/>
                          </a:solidFill>
                          <a:latin typeface="Calibri"/>
                        </a:rPr>
                        <a:t>RF-SEG-09/10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12163A"/>
                          </a:solidFill>
                          <a:latin typeface="Calibri"/>
                        </a:rPr>
                        <a:t>Papéis staff + auditoria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12163A"/>
                          </a:solidFill>
                          <a:latin typeface="Calibri"/>
                        </a:rPr>
                        <a:t>Enum completo; ações sensíveis em audit_logs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2444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0000" y="330000"/>
            <a:ext cx="9500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>
                <a:solidFill>
                  <a:srgbClr val="12163A"/>
                </a:solidFill>
                <a:latin typeface="Calibri"/>
              </a:rPr>
              <a:t>3. Requisitos — Cliente e Mestre</a:t>
            </a:r>
          </a:p>
        </p:txBody>
      </p:sp>
      <p:sp>
        <p:nvSpPr>
          <p:cNvPr id="5" name="Rectangle 4"/>
          <p:cNvSpPr/>
          <p:nvPr/>
        </p:nvSpPr>
        <p:spPr>
          <a:xfrm>
            <a:off x="500000" y="1020000"/>
            <a:ext cx="1400000" cy="45720"/>
          </a:xfrm>
          <a:prstGeom prst="rect">
            <a:avLst/>
          </a:prstGeom>
          <a:solidFill>
            <a:srgbClr val="FFC6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400000" y="6300000"/>
            <a:ext cx="130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600"/>
              </a:spcAft>
            </a:pPr>
            <a:r>
              <a:rPr sz="1200" b="0">
                <a:solidFill>
                  <a:srgbClr val="5B6472"/>
                </a:solidFill>
                <a:latin typeface="Calibri"/>
              </a:rPr>
              <a:t>5 / 12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0000" y="6300000"/>
            <a:ext cx="600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>
                <a:solidFill>
                  <a:srgbClr val="5B6472"/>
                </a:solidFill>
                <a:latin typeface="Calibri"/>
              </a:rPr>
              <a:t>Termos de Referência · Bué de Mestres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00000" y="1350000"/>
          <a:ext cx="11200000" cy="400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600000"/>
                <a:gridCol w="5600000"/>
              </a:tblGrid>
              <a:tr h="666666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Calibri"/>
                        </a:rPr>
                        <a:t>Área</a:t>
                      </a:r>
                    </a:p>
                  </a:txBody>
                  <a:tcPr>
                    <a:solidFill>
                      <a:srgbClr val="1216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Calibri"/>
                        </a:rPr>
                        <a:t>Requisitos principais (R1)</a:t>
                      </a:r>
                    </a:p>
                  </a:txBody>
                  <a:tcPr>
                    <a:solidFill>
                      <a:srgbClr val="12163A"/>
                    </a:solidFill>
                  </a:tcPr>
                </a:tc>
              </a:tr>
              <a:tr h="666666"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12163A"/>
                          </a:solidFill>
                          <a:latin typeface="Calibri"/>
                        </a:rPr>
                        <a:t>Cliente</a:t>
                      </a:r>
                    </a:p>
                  </a:txBody>
                  <a:tcPr>
                    <a:solidFill>
                      <a:srgbClr val="EDF0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12163A"/>
                          </a:solidFill>
                          <a:latin typeface="Calibri"/>
                        </a:rPr>
                        <a:t>Registo/entrada · pedidos (agendado e imediato) · chat · tracking em mapa · confirmar preço e conclusão · avaliações</a:t>
                      </a:r>
                    </a:p>
                  </a:txBody>
                  <a:tcPr>
                    <a:solidFill>
                      <a:srgbClr val="EDF0F2"/>
                    </a:solidFill>
                  </a:tcPr>
                </a:tc>
              </a:tr>
              <a:tr h="666666"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12163A"/>
                          </a:solidFill>
                          <a:latin typeface="Calibri"/>
                        </a:rPr>
                        <a:t>Mestre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12163A"/>
                          </a:solidFill>
                          <a:latin typeface="Calibri"/>
                        </a:rPr>
                        <a:t>Activação de perfil · presença online &lt; 5 s · ofertas de 60 s · proposta de preço · carteira e payouts · KYC guiado · push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66666"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12163A"/>
                          </a:solidFill>
                          <a:latin typeface="Calibri"/>
                        </a:rPr>
                        <a:t>Admin</a:t>
                      </a:r>
                    </a:p>
                  </a:txBody>
                  <a:tcPr>
                    <a:solidFill>
                      <a:srgbClr val="EDF0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12163A"/>
                          </a:solidFill>
                          <a:latin typeface="Calibri"/>
                        </a:rPr>
                        <a:t>Validação de pagamentos manuais · revisão de KYC · moderação de perfis</a:t>
                      </a:r>
                    </a:p>
                  </a:txBody>
                  <a:tcPr>
                    <a:solidFill>
                      <a:srgbClr val="EDF0F2"/>
                    </a:solidFill>
                  </a:tcPr>
                </a:tc>
              </a:tr>
              <a:tr h="666666"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12163A"/>
                          </a:solidFill>
                          <a:latin typeface="Calibri"/>
                        </a:rPr>
                        <a:t>Despacho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12163A"/>
                          </a:solidFill>
                          <a:latin typeface="Calibri"/>
                        </a:rPr>
                        <a:t>Worker invoca nearby_providers() · raio configurável · expiração e re-oferta · crons monitorizados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66670"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12163A"/>
                          </a:solidFill>
                          <a:latin typeface="Calibri"/>
                        </a:rPr>
                        <a:t>Prioridade R2</a:t>
                      </a:r>
                    </a:p>
                  </a:txBody>
                  <a:tcPr>
                    <a:solidFill>
                      <a:srgbClr val="EDF0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12163A"/>
                          </a:solidFill>
                          <a:latin typeface="Calibri"/>
                        </a:rPr>
                        <a:t>Planos/destaques/afiliados · favoritos e denúncias · tickets com SLA · relatórios · MFA e permissões</a:t>
                      </a:r>
                    </a:p>
                  </a:txBody>
                  <a:tcPr>
                    <a:solidFill>
                      <a:srgbClr val="EDF0F2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500000" y="5600000"/>
            <a:ext cx="11200000" cy="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>
                <a:solidFill>
                  <a:srgbClr val="2444C8"/>
                </a:solidFill>
                <a:latin typeface="Calibri"/>
              </a:rPr>
              <a:t>Não funcionais: &lt; 2,5 s em 4G · 99,5% disponibilidade · OWASP Top 10 · WCAG AA · Android 10+/iOS 15+ · CI verde.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2444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0000" y="330000"/>
            <a:ext cx="9500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>
                <a:solidFill>
                  <a:srgbClr val="12163A"/>
                </a:solidFill>
                <a:latin typeface="Calibri"/>
              </a:rPr>
              <a:t>5. Entregáveis</a:t>
            </a:r>
          </a:p>
        </p:txBody>
      </p:sp>
      <p:sp>
        <p:nvSpPr>
          <p:cNvPr id="5" name="Rectangle 4"/>
          <p:cNvSpPr/>
          <p:nvPr/>
        </p:nvSpPr>
        <p:spPr>
          <a:xfrm>
            <a:off x="500000" y="1020000"/>
            <a:ext cx="1400000" cy="45720"/>
          </a:xfrm>
          <a:prstGeom prst="rect">
            <a:avLst/>
          </a:prstGeom>
          <a:solidFill>
            <a:srgbClr val="FFC6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400000" y="6300000"/>
            <a:ext cx="130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600"/>
              </a:spcAft>
            </a:pPr>
            <a:r>
              <a:rPr sz="1200" b="0">
                <a:solidFill>
                  <a:srgbClr val="5B6472"/>
                </a:solidFill>
                <a:latin typeface="Calibri"/>
              </a:rPr>
              <a:t>6 / 12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0000" y="6300000"/>
            <a:ext cx="600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>
                <a:solidFill>
                  <a:srgbClr val="5B6472"/>
                </a:solidFill>
                <a:latin typeface="Calibri"/>
              </a:rPr>
              <a:t>Termos de Referência · Bué de Mestres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00000" y="1350000"/>
          <a:ext cx="11200000" cy="460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33333"/>
                <a:gridCol w="3733333"/>
                <a:gridCol w="3733334"/>
              </a:tblGrid>
              <a:tr h="460000"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#</a:t>
                      </a:r>
                    </a:p>
                  </a:txBody>
                  <a:tcPr>
                    <a:solidFill>
                      <a:srgbClr val="1216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Entregável</a:t>
                      </a:r>
                    </a:p>
                  </a:txBody>
                  <a:tcPr>
                    <a:solidFill>
                      <a:srgbClr val="1216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Formato</a:t>
                      </a:r>
                    </a:p>
                  </a:txBody>
                  <a:tcPr>
                    <a:solidFill>
                      <a:srgbClr val="12163A"/>
                    </a:solidFill>
                  </a:tcPr>
                </a:tc>
              </a:tr>
              <a:tr h="460000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12163A"/>
                          </a:solidFill>
                          <a:latin typeface="Calibri"/>
                        </a:rPr>
                        <a:t>E1</a:t>
                      </a:r>
                    </a:p>
                  </a:txBody>
                  <a:tcPr>
                    <a:solidFill>
                      <a:srgbClr val="EDF0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12163A"/>
                          </a:solidFill>
                          <a:latin typeface="Calibri"/>
                        </a:rPr>
                        <a:t>Código em master com histórico</a:t>
                      </a:r>
                    </a:p>
                  </a:txBody>
                  <a:tcPr>
                    <a:solidFill>
                      <a:srgbClr val="EDF0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12163A"/>
                          </a:solidFill>
                          <a:latin typeface="Calibri"/>
                        </a:rPr>
                        <a:t>Repositório Git</a:t>
                      </a:r>
                    </a:p>
                  </a:txBody>
                  <a:tcPr>
                    <a:solidFill>
                      <a:srgbClr val="EDF0F2"/>
                    </a:solidFill>
                  </a:tcPr>
                </a:tc>
              </a:tr>
              <a:tr h="460000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12163A"/>
                          </a:solidFill>
                          <a:latin typeface="Calibri"/>
                        </a:rPr>
                        <a:t>E2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12163A"/>
                          </a:solidFill>
                          <a:latin typeface="Calibri"/>
                        </a:rPr>
                        <a:t>Migrações SQL documentadas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12163A"/>
                          </a:solidFill>
                          <a:latin typeface="Calibri"/>
                        </a:rPr>
                        <a:t>migrations/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60000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12163A"/>
                          </a:solidFill>
                          <a:latin typeface="Calibri"/>
                        </a:rPr>
                        <a:t>E3</a:t>
                      </a:r>
                    </a:p>
                  </a:txBody>
                  <a:tcPr>
                    <a:solidFill>
                      <a:srgbClr val="EDF0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12163A"/>
                          </a:solidFill>
                          <a:latin typeface="Calibri"/>
                        </a:rPr>
                        <a:t>APKs de piloto + EAS</a:t>
                      </a:r>
                    </a:p>
                  </a:txBody>
                  <a:tcPr>
                    <a:solidFill>
                      <a:srgbClr val="EDF0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12163A"/>
                          </a:solidFill>
                          <a:latin typeface="Calibri"/>
                        </a:rPr>
                        <a:t>Artefacto</a:t>
                      </a:r>
                    </a:p>
                  </a:txBody>
                  <a:tcPr>
                    <a:solidFill>
                      <a:srgbClr val="EDF0F2"/>
                    </a:solidFill>
                  </a:tcPr>
                </a:tc>
              </a:tr>
              <a:tr h="460000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12163A"/>
                          </a:solidFill>
                          <a:latin typeface="Calibri"/>
                        </a:rPr>
                        <a:t>E4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12163A"/>
                          </a:solidFill>
                          <a:latin typeface="Calibri"/>
                        </a:rPr>
                        <a:t>Suíte de testes automatizados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12163A"/>
                          </a:solidFill>
                          <a:latin typeface="Calibri"/>
                        </a:rPr>
                        <a:t>Código + relatório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60000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12163A"/>
                          </a:solidFill>
                          <a:latin typeface="Calibri"/>
                        </a:rPr>
                        <a:t>E5</a:t>
                      </a:r>
                    </a:p>
                  </a:txBody>
                  <a:tcPr>
                    <a:solidFill>
                      <a:srgbClr val="EDF0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12163A"/>
                          </a:solidFill>
                          <a:latin typeface="Calibri"/>
                        </a:rPr>
                        <a:t>Docs: API, decisões, runbook</a:t>
                      </a:r>
                    </a:p>
                  </a:txBody>
                  <a:tcPr>
                    <a:solidFill>
                      <a:srgbClr val="EDF0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12163A"/>
                          </a:solidFill>
                          <a:latin typeface="Calibri"/>
                        </a:rPr>
                        <a:t>docs/</a:t>
                      </a:r>
                    </a:p>
                  </a:txBody>
                  <a:tcPr>
                    <a:solidFill>
                      <a:srgbClr val="EDF0F2"/>
                    </a:solidFill>
                  </a:tcPr>
                </a:tc>
              </a:tr>
              <a:tr h="460000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12163A"/>
                          </a:solidFill>
                          <a:latin typeface="Calibri"/>
                        </a:rPr>
                        <a:t>E6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12163A"/>
                          </a:solidFill>
                          <a:latin typeface="Calibri"/>
                        </a:rPr>
                        <a:t>Manual operacional do back-office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12163A"/>
                          </a:solidFill>
                          <a:latin typeface="Calibri"/>
                        </a:rPr>
                        <a:t>Markdown/PDF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60000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12163A"/>
                          </a:solidFill>
                          <a:latin typeface="Calibri"/>
                        </a:rPr>
                        <a:t>E7</a:t>
                      </a:r>
                    </a:p>
                  </a:txBody>
                  <a:tcPr>
                    <a:solidFill>
                      <a:srgbClr val="EDF0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12163A"/>
                          </a:solidFill>
                          <a:latin typeface="Calibri"/>
                        </a:rPr>
                        <a:t>Relatórios de aceitação por fase</a:t>
                      </a:r>
                    </a:p>
                  </a:txBody>
                  <a:tcPr>
                    <a:solidFill>
                      <a:srgbClr val="EDF0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12163A"/>
                          </a:solidFill>
                          <a:latin typeface="Calibri"/>
                        </a:rPr>
                        <a:t>Documento</a:t>
                      </a:r>
                    </a:p>
                  </a:txBody>
                  <a:tcPr>
                    <a:solidFill>
                      <a:srgbClr val="EDF0F2"/>
                    </a:solidFill>
                  </a:tcPr>
                </a:tc>
              </a:tr>
              <a:tr h="460000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12163A"/>
                          </a:solidFill>
                          <a:latin typeface="Calibri"/>
                        </a:rPr>
                        <a:t>E8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12163A"/>
                          </a:solidFill>
                          <a:latin typeface="Calibri"/>
                        </a:rPr>
                        <a:t>Plano de KPIs do piloto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12163A"/>
                          </a:solidFill>
                          <a:latin typeface="Calibri"/>
                        </a:rPr>
                        <a:t>Doc + dashboards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60000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12163A"/>
                          </a:solidFill>
                          <a:latin typeface="Calibri"/>
                        </a:rPr>
                        <a:t>E9</a:t>
                      </a:r>
                    </a:p>
                  </a:txBody>
                  <a:tcPr>
                    <a:solidFill>
                      <a:srgbClr val="EDF0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12163A"/>
                          </a:solidFill>
                          <a:latin typeface="Calibri"/>
                        </a:rPr>
                        <a:t>Relatório final + formação</a:t>
                      </a:r>
                    </a:p>
                  </a:txBody>
                  <a:tcPr>
                    <a:solidFill>
                      <a:srgbClr val="EDF0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12163A"/>
                          </a:solidFill>
                          <a:latin typeface="Calibri"/>
                        </a:rPr>
                        <a:t>Documento + sessão</a:t>
                      </a:r>
                    </a:p>
                  </a:txBody>
                  <a:tcPr>
                    <a:solidFill>
                      <a:srgbClr val="EDF0F2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2444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0000" y="330000"/>
            <a:ext cx="9500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>
                <a:solidFill>
                  <a:srgbClr val="12163A"/>
                </a:solidFill>
                <a:latin typeface="Calibri"/>
              </a:rPr>
              <a:t>6. Cronograma — 8 fases / 15 semanas</a:t>
            </a:r>
          </a:p>
        </p:txBody>
      </p:sp>
      <p:sp>
        <p:nvSpPr>
          <p:cNvPr id="5" name="Rectangle 4"/>
          <p:cNvSpPr/>
          <p:nvPr/>
        </p:nvSpPr>
        <p:spPr>
          <a:xfrm>
            <a:off x="500000" y="1020000"/>
            <a:ext cx="1400000" cy="45720"/>
          </a:xfrm>
          <a:prstGeom prst="rect">
            <a:avLst/>
          </a:prstGeom>
          <a:solidFill>
            <a:srgbClr val="FFC6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400000" y="6300000"/>
            <a:ext cx="130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600"/>
              </a:spcAft>
            </a:pPr>
            <a:r>
              <a:rPr sz="1200" b="0">
                <a:solidFill>
                  <a:srgbClr val="5B6472"/>
                </a:solidFill>
                <a:latin typeface="Calibri"/>
              </a:rPr>
              <a:t>7 / 12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0000" y="6300000"/>
            <a:ext cx="600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>
                <a:solidFill>
                  <a:srgbClr val="5B6472"/>
                </a:solidFill>
                <a:latin typeface="Calibri"/>
              </a:rPr>
              <a:t>Termos de Referência · Bué de Mestres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00000" y="1350000"/>
          <a:ext cx="11200000" cy="440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33333"/>
                <a:gridCol w="3733333"/>
                <a:gridCol w="3733334"/>
              </a:tblGrid>
              <a:tr h="488888"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Fase</a:t>
                      </a:r>
                    </a:p>
                  </a:txBody>
                  <a:tcPr>
                    <a:solidFill>
                      <a:srgbClr val="1216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Conteúdo</a:t>
                      </a:r>
                    </a:p>
                  </a:txBody>
                  <a:tcPr>
                    <a:solidFill>
                      <a:srgbClr val="1216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Prazo</a:t>
                      </a:r>
                    </a:p>
                  </a:txBody>
                  <a:tcPr>
                    <a:solidFill>
                      <a:srgbClr val="12163A"/>
                    </a:solidFill>
                  </a:tcPr>
                </a:tc>
              </a:tr>
              <a:tr h="488888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12163A"/>
                          </a:solidFill>
                          <a:latin typeface="Calibri"/>
                        </a:rPr>
                        <a:t>F1 Emergência</a:t>
                      </a:r>
                    </a:p>
                  </a:txBody>
                  <a:tcPr>
                    <a:solidFill>
                      <a:srgbClr val="EDF0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12163A"/>
                          </a:solidFill>
                          <a:latin typeface="Calibri"/>
                        </a:rPr>
                        <a:t>3 críticas + sessão nas actions + papéis</a:t>
                      </a:r>
                    </a:p>
                  </a:txBody>
                  <a:tcPr>
                    <a:solidFill>
                      <a:srgbClr val="EDF0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12163A"/>
                          </a:solidFill>
                          <a:latin typeface="Calibri"/>
                        </a:rPr>
                        <a:t>Sem. 1–2</a:t>
                      </a:r>
                    </a:p>
                  </a:txBody>
                  <a:tcPr>
                    <a:solidFill>
                      <a:srgbClr val="EDF0F2"/>
                    </a:solidFill>
                  </a:tcPr>
                </a:tc>
              </a:tr>
              <a:tr h="488888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12163A"/>
                          </a:solidFill>
                          <a:latin typeface="Calibri"/>
                        </a:rPr>
                        <a:t>F2 Consolidação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12163A"/>
                          </a:solidFill>
                          <a:latin typeface="Calibri"/>
                        </a:rPr>
                        <a:t>RLS, webhook, chat/orçamentos/pesquisa, tabelas, push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12163A"/>
                          </a:solidFill>
                          <a:latin typeface="Calibri"/>
                        </a:rPr>
                        <a:t>Sem. 3–5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88888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12163A"/>
                          </a:solidFill>
                          <a:latin typeface="Calibri"/>
                        </a:rPr>
                        <a:t>F3 Operação</a:t>
                      </a:r>
                    </a:p>
                  </a:txBody>
                  <a:tcPr>
                    <a:solidFill>
                      <a:srgbClr val="EDF0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12163A"/>
                          </a:solidFill>
                          <a:latin typeface="Calibri"/>
                        </a:rPr>
                        <a:t>Despacho on-demand, crons, relatórios, moderação</a:t>
                      </a:r>
                    </a:p>
                  </a:txBody>
                  <a:tcPr>
                    <a:solidFill>
                      <a:srgbClr val="EDF0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12163A"/>
                          </a:solidFill>
                          <a:latin typeface="Calibri"/>
                        </a:rPr>
                        <a:t>Sem. 6–8</a:t>
                      </a:r>
                    </a:p>
                  </a:txBody>
                  <a:tcPr>
                    <a:solidFill>
                      <a:srgbClr val="EDF0F2"/>
                    </a:solidFill>
                  </a:tcPr>
                </a:tc>
              </a:tr>
              <a:tr h="488888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12163A"/>
                          </a:solidFill>
                          <a:latin typeface="Calibri"/>
                        </a:rPr>
                        <a:t>F4 Dinheiro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12163A"/>
                          </a:solidFill>
                          <a:latin typeface="Calibri"/>
                        </a:rPr>
                        <a:t>Pagamentos + webhook, payouts, planos e afiliados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12163A"/>
                          </a:solidFill>
                          <a:latin typeface="Calibri"/>
                        </a:rPr>
                        <a:t>Sem. 9–10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88888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12163A"/>
                          </a:solidFill>
                          <a:latin typeface="Calibri"/>
                        </a:rPr>
                        <a:t>F5 Confiança</a:t>
                      </a:r>
                    </a:p>
                  </a:txBody>
                  <a:tcPr>
                    <a:solidFill>
                      <a:srgbClr val="EDF0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12163A"/>
                          </a:solidFill>
                          <a:latin typeface="Calibri"/>
                        </a:rPr>
                        <a:t>KYC + revisão humana + denúncias</a:t>
                      </a:r>
                    </a:p>
                  </a:txBody>
                  <a:tcPr>
                    <a:solidFill>
                      <a:srgbClr val="EDF0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12163A"/>
                          </a:solidFill>
                          <a:latin typeface="Calibri"/>
                        </a:rPr>
                        <a:t>Sem. 11–12</a:t>
                      </a:r>
                    </a:p>
                  </a:txBody>
                  <a:tcPr>
                    <a:solidFill>
                      <a:srgbClr val="EDF0F2"/>
                    </a:solidFill>
                  </a:tcPr>
                </a:tc>
              </a:tr>
              <a:tr h="488888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12163A"/>
                          </a:solidFill>
                          <a:latin typeface="Calibri"/>
                        </a:rPr>
                        <a:t>F6 Qualidade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12163A"/>
                          </a:solidFill>
                          <a:latin typeface="Calibri"/>
                        </a:rPr>
                        <a:t>Testes E2E, segurança, SEO/PWA, legais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12163A"/>
                          </a:solidFill>
                          <a:latin typeface="Calibri"/>
                        </a:rPr>
                        <a:t>Sem. 13–14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88888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12163A"/>
                          </a:solidFill>
                          <a:latin typeface="Calibri"/>
                        </a:rPr>
                        <a:t>F7 Entrega</a:t>
                      </a:r>
                    </a:p>
                  </a:txBody>
                  <a:tcPr>
                    <a:solidFill>
                      <a:srgbClr val="EDF0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12163A"/>
                          </a:solidFill>
                          <a:latin typeface="Calibri"/>
                        </a:rPr>
                        <a:t>APKs, manual, formação, relatório final</a:t>
                      </a:r>
                    </a:p>
                  </a:txBody>
                  <a:tcPr>
                    <a:solidFill>
                      <a:srgbClr val="EDF0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12163A"/>
                          </a:solidFill>
                          <a:latin typeface="Calibri"/>
                        </a:rPr>
                        <a:t>Sem. 15</a:t>
                      </a:r>
                    </a:p>
                  </a:txBody>
                  <a:tcPr>
                    <a:solidFill>
                      <a:srgbClr val="EDF0F2"/>
                    </a:solidFill>
                  </a:tcPr>
                </a:tc>
              </a:tr>
              <a:tr h="488896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12163A"/>
                          </a:solidFill>
                          <a:latin typeface="Calibri"/>
                        </a:rPr>
                        <a:t>F8 Garantia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12163A"/>
                          </a:solidFill>
                          <a:latin typeface="Calibri"/>
                        </a:rPr>
                        <a:t>Piloto acompanhado + correcções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12163A"/>
                          </a:solidFill>
                          <a:latin typeface="Calibri"/>
                        </a:rPr>
                        <a:t>+8 semanas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500000" y="5950000"/>
            <a:ext cx="1120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>
                <a:solidFill>
                  <a:srgbClr val="2444C8"/>
                </a:solidFill>
                <a:latin typeface="Calibri"/>
              </a:rPr>
              <a:t>Marcos de pagamento (em contrato): F1 · F3 · F5 · F7 · fim de F8.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2444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0000" y="330000"/>
            <a:ext cx="9500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>
                <a:solidFill>
                  <a:srgbClr val="12163A"/>
                </a:solidFill>
                <a:latin typeface="Calibri"/>
              </a:rPr>
              <a:t>7. Dependências e decisões externas</a:t>
            </a:r>
          </a:p>
        </p:txBody>
      </p:sp>
      <p:sp>
        <p:nvSpPr>
          <p:cNvPr id="5" name="Rectangle 4"/>
          <p:cNvSpPr/>
          <p:nvPr/>
        </p:nvSpPr>
        <p:spPr>
          <a:xfrm>
            <a:off x="500000" y="1020000"/>
            <a:ext cx="1400000" cy="45720"/>
          </a:xfrm>
          <a:prstGeom prst="rect">
            <a:avLst/>
          </a:prstGeom>
          <a:solidFill>
            <a:srgbClr val="FFC6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400000" y="6300000"/>
            <a:ext cx="130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600"/>
              </a:spcAft>
            </a:pPr>
            <a:r>
              <a:rPr sz="1200" b="0">
                <a:solidFill>
                  <a:srgbClr val="5B6472"/>
                </a:solidFill>
                <a:latin typeface="Calibri"/>
              </a:rPr>
              <a:t>8 / 12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0000" y="6300000"/>
            <a:ext cx="600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>
                <a:solidFill>
                  <a:srgbClr val="5B6472"/>
                </a:solidFill>
                <a:latin typeface="Calibri"/>
              </a:rPr>
              <a:t>Termos de Referência · Bué de Mestres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00000" y="1350000"/>
          <a:ext cx="11200000" cy="400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33333"/>
                <a:gridCol w="3733333"/>
                <a:gridCol w="3733334"/>
              </a:tblGrid>
              <a:tr h="500000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Calibri"/>
                        </a:rPr>
                        <a:t>#</a:t>
                      </a:r>
                    </a:p>
                  </a:txBody>
                  <a:tcPr>
                    <a:solidFill>
                      <a:srgbClr val="1216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Calibri"/>
                        </a:rPr>
                        <a:t>Dependência</a:t>
                      </a:r>
                    </a:p>
                  </a:txBody>
                  <a:tcPr>
                    <a:solidFill>
                      <a:srgbClr val="1216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Calibri"/>
                        </a:rPr>
                        <a:t>Bloqueia</a:t>
                      </a:r>
                    </a:p>
                  </a:txBody>
                  <a:tcPr>
                    <a:solidFill>
                      <a:srgbClr val="12163A"/>
                    </a:solidFill>
                  </a:tcPr>
                </a:tc>
              </a:tr>
              <a:tr h="500000"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12163A"/>
                          </a:solidFill>
                          <a:latin typeface="Calibri"/>
                        </a:rPr>
                        <a:t>D1</a:t>
                      </a:r>
                    </a:p>
                  </a:txBody>
                  <a:tcPr>
                    <a:solidFill>
                      <a:srgbClr val="EDF0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12163A"/>
                          </a:solidFill>
                          <a:latin typeface="Calibri"/>
                        </a:rPr>
                        <a:t>Fornecedor de KYC contratado</a:t>
                      </a:r>
                    </a:p>
                  </a:txBody>
                  <a:tcPr>
                    <a:solidFill>
                      <a:srgbClr val="EDF0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12163A"/>
                          </a:solidFill>
                          <a:latin typeface="Calibri"/>
                        </a:rPr>
                        <a:t>F5</a:t>
                      </a:r>
                    </a:p>
                  </a:txBody>
                  <a:tcPr>
                    <a:solidFill>
                      <a:srgbClr val="EDF0F2"/>
                    </a:solidFill>
                  </a:tcPr>
                </a:tc>
              </a:tr>
              <a:tr h="500000"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12163A"/>
                          </a:solidFill>
                          <a:latin typeface="Calibri"/>
                        </a:rPr>
                        <a:t>D2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12163A"/>
                          </a:solidFill>
                          <a:latin typeface="Calibri"/>
                        </a:rPr>
                        <a:t>Contrato M-Pesa/e-Mola (ou modo manual)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12163A"/>
                          </a:solidFill>
                          <a:latin typeface="Calibri"/>
                        </a:rPr>
                        <a:t>F4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00000"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12163A"/>
                          </a:solidFill>
                          <a:latin typeface="Calibri"/>
                        </a:rPr>
                        <a:t>D3</a:t>
                      </a:r>
                    </a:p>
                  </a:txBody>
                  <a:tcPr>
                    <a:solidFill>
                      <a:srgbClr val="EDF0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12163A"/>
                          </a:solidFill>
                          <a:latin typeface="Calibri"/>
                        </a:rPr>
                        <a:t>Comissões e preços finais</a:t>
                      </a:r>
                    </a:p>
                  </a:txBody>
                  <a:tcPr>
                    <a:solidFill>
                      <a:srgbClr val="EDF0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12163A"/>
                          </a:solidFill>
                          <a:latin typeface="Calibri"/>
                        </a:rPr>
                        <a:t>F4</a:t>
                      </a:r>
                    </a:p>
                  </a:txBody>
                  <a:tcPr>
                    <a:solidFill>
                      <a:srgbClr val="EDF0F2"/>
                    </a:solidFill>
                  </a:tcPr>
                </a:tc>
              </a:tr>
              <a:tr h="500000"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12163A"/>
                          </a:solidFill>
                          <a:latin typeface="Calibri"/>
                        </a:rPr>
                        <a:t>D4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12163A"/>
                          </a:solidFill>
                          <a:latin typeface="Calibri"/>
                        </a:rPr>
                        <a:t>Enquadramento legal da custódia de valores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12163A"/>
                          </a:solidFill>
                          <a:latin typeface="Calibri"/>
                        </a:rPr>
                        <a:t>Escrow real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00000"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12163A"/>
                          </a:solidFill>
                          <a:latin typeface="Calibri"/>
                        </a:rPr>
                        <a:t>D5</a:t>
                      </a:r>
                    </a:p>
                  </a:txBody>
                  <a:tcPr>
                    <a:solidFill>
                      <a:srgbClr val="EDF0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12163A"/>
                          </a:solidFill>
                          <a:latin typeface="Calibri"/>
                        </a:rPr>
                        <a:t>Contas Google Play / Apple</a:t>
                      </a:r>
                    </a:p>
                  </a:txBody>
                  <a:tcPr>
                    <a:solidFill>
                      <a:srgbClr val="EDF0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12163A"/>
                          </a:solidFill>
                          <a:latin typeface="Calibri"/>
                        </a:rPr>
                        <a:t>F7</a:t>
                      </a:r>
                    </a:p>
                  </a:txBody>
                  <a:tcPr>
                    <a:solidFill>
                      <a:srgbClr val="EDF0F2"/>
                    </a:solidFill>
                  </a:tcPr>
                </a:tc>
              </a:tr>
              <a:tr h="500000"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12163A"/>
                          </a:solidFill>
                          <a:latin typeface="Calibri"/>
                        </a:rPr>
                        <a:t>D6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12163A"/>
                          </a:solidFill>
                          <a:latin typeface="Calibri"/>
                        </a:rPr>
                        <a:t>Dinheiro em mão no piloto (sim/não)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12163A"/>
                          </a:solidFill>
                          <a:latin typeface="Calibri"/>
                        </a:rPr>
                        <a:t>F3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00000"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12163A"/>
                          </a:solidFill>
                          <a:latin typeface="Calibri"/>
                        </a:rPr>
                        <a:t>D7</a:t>
                      </a:r>
                    </a:p>
                  </a:txBody>
                  <a:tcPr>
                    <a:solidFill>
                      <a:srgbClr val="EDF0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12163A"/>
                          </a:solidFill>
                          <a:latin typeface="Calibri"/>
                        </a:rPr>
                        <a:t>Acesso a contas e secrets</a:t>
                      </a:r>
                    </a:p>
                  </a:txBody>
                  <a:tcPr>
                    <a:solidFill>
                      <a:srgbClr val="EDF0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12163A"/>
                          </a:solidFill>
                          <a:latin typeface="Calibri"/>
                        </a:rPr>
                        <a:t>F1</a:t>
                      </a:r>
                    </a:p>
                  </a:txBody>
                  <a:tcPr>
                    <a:solidFill>
                      <a:srgbClr val="EDF0F2"/>
                    </a:solidFill>
                  </a:tcPr>
                </a:tc>
              </a:tr>
            </a:tbl>
          </a:graphicData>
        </a:graphic>
      </p:graphicFrame>
      <p:sp>
        <p:nvSpPr>
          <p:cNvPr id="9" name="Rectangle 8"/>
          <p:cNvSpPr/>
          <p:nvPr/>
        </p:nvSpPr>
        <p:spPr>
          <a:xfrm>
            <a:off x="500000" y="5500000"/>
            <a:ext cx="11200000" cy="900000"/>
          </a:xfrm>
          <a:prstGeom prst="rect">
            <a:avLst/>
          </a:prstGeom>
          <a:solidFill>
            <a:srgbClr val="EDF0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00000" y="5500000"/>
            <a:ext cx="70000" cy="900000"/>
          </a:xfrm>
          <a:prstGeom prst="rect">
            <a:avLst/>
          </a:prstGeom>
          <a:solidFill>
            <a:srgbClr val="BF3A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50000" y="5650000"/>
            <a:ext cx="10700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>
                <a:solidFill>
                  <a:srgbClr val="12163A"/>
                </a:solidFill>
                <a:latin typeface="Calibri"/>
              </a:rPr>
              <a:t>Risco regulatório: reter dinheiro de terceiros pode exigir entidade legal e conta de custódia. Até decisão: PAYMENT_PROVIDER=manual e piloto com montantes baixos.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2444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0000" y="330000"/>
            <a:ext cx="9500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>
                <a:solidFill>
                  <a:srgbClr val="12163A"/>
                </a:solidFill>
                <a:latin typeface="Calibri"/>
              </a:rPr>
              <a:t>8–9. Governança, PI e garantia</a:t>
            </a:r>
          </a:p>
        </p:txBody>
      </p:sp>
      <p:sp>
        <p:nvSpPr>
          <p:cNvPr id="5" name="Rectangle 4"/>
          <p:cNvSpPr/>
          <p:nvPr/>
        </p:nvSpPr>
        <p:spPr>
          <a:xfrm>
            <a:off x="500000" y="1020000"/>
            <a:ext cx="1400000" cy="45720"/>
          </a:xfrm>
          <a:prstGeom prst="rect">
            <a:avLst/>
          </a:prstGeom>
          <a:solidFill>
            <a:srgbClr val="FFC6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400000" y="6300000"/>
            <a:ext cx="130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600"/>
              </a:spcAft>
            </a:pPr>
            <a:r>
              <a:rPr sz="1200" b="0">
                <a:solidFill>
                  <a:srgbClr val="5B6472"/>
                </a:solidFill>
                <a:latin typeface="Calibri"/>
              </a:rPr>
              <a:t>9 / 12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0000" y="6300000"/>
            <a:ext cx="600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>
                <a:solidFill>
                  <a:srgbClr val="5B6472"/>
                </a:solidFill>
                <a:latin typeface="Calibri"/>
              </a:rPr>
              <a:t>Termos de Referência · Bué de Mestres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0000" y="1400000"/>
            <a:ext cx="11200000" cy="4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1700">
                <a:solidFill>
                  <a:srgbClr val="12163A"/>
                </a:solidFill>
                <a:latin typeface="Calibri"/>
              </a:rPr>
              <a:t>•  Reunião semanal de estado (15 min) + relatório escrito por fase.</a:t>
            </a:r>
          </a:p>
          <a:p>
            <a:pPr>
              <a:spcAft>
                <a:spcPts val="1200"/>
              </a:spcAft>
            </a:pPr>
            <a:r>
              <a:rPr sz="1700">
                <a:solidFill>
                  <a:srgbClr val="12163A"/>
                </a:solidFill>
                <a:latin typeface="Calibri"/>
              </a:rPr>
              <a:t>•  master sempre compilável; lint + typecheck + testes antes de cada merge.</a:t>
            </a:r>
          </a:p>
          <a:p>
            <a:pPr>
              <a:spcAft>
                <a:spcPts val="1200"/>
              </a:spcAft>
            </a:pPr>
            <a:r>
              <a:rPr sz="1700">
                <a:solidFill>
                  <a:srgbClr val="12163A"/>
                </a:solidFill>
                <a:latin typeface="Calibri"/>
              </a:rPr>
              <a:t>•  Mudanças de âmbito registadas com impacto e aprovadas por escrito.</a:t>
            </a:r>
          </a:p>
          <a:p>
            <a:pPr>
              <a:spcAft>
                <a:spcPts val="1200"/>
              </a:spcAft>
            </a:pPr>
            <a:r>
              <a:rPr sz="1700">
                <a:solidFill>
                  <a:srgbClr val="12163A"/>
                </a:solidFill>
                <a:latin typeface="Calibri"/>
              </a:rPr>
              <a:t>•  Fase só aceite com relatório contra os critérios da secção 3.</a:t>
            </a:r>
          </a:p>
          <a:p>
            <a:pPr>
              <a:spcAft>
                <a:spcPts val="1200"/>
              </a:spcAft>
            </a:pPr>
            <a:r>
              <a:rPr sz="1700">
                <a:solidFill>
                  <a:srgbClr val="12163A"/>
                </a:solidFill>
                <a:latin typeface="Calibri"/>
              </a:rPr>
              <a:t>•  Bloqueios escalados em 48 h.</a:t>
            </a:r>
          </a:p>
          <a:p>
            <a:pPr>
              <a:spcAft>
                <a:spcPts val="1200"/>
              </a:spcAft>
            </a:pPr>
            <a:r>
              <a:rPr sz="1700">
                <a:solidFill>
                  <a:srgbClr val="12163A"/>
                </a:solidFill>
                <a:latin typeface="Calibri"/>
              </a:rPr>
              <a:t>•  Propriedade: 100% da entidade promotora, entregue continuamente no Git.</a:t>
            </a:r>
          </a:p>
          <a:p>
            <a:pPr>
              <a:spcAft>
                <a:spcPts val="1200"/>
              </a:spcAft>
            </a:pPr>
            <a:r>
              <a:rPr sz="1700">
                <a:solidFill>
                  <a:srgbClr val="12163A"/>
                </a:solidFill>
                <a:latin typeface="Calibri"/>
              </a:rPr>
              <a:t>•  Confidencialidade: credenciais nunca em código; dados de negócio protegidos.</a:t>
            </a:r>
          </a:p>
          <a:p>
            <a:pPr>
              <a:spcAft>
                <a:spcPts val="1200"/>
              </a:spcAft>
            </a:pPr>
            <a:r>
              <a:rPr sz="1700">
                <a:solidFill>
                  <a:srgbClr val="12163A"/>
                </a:solidFill>
                <a:latin typeface="Calibri"/>
              </a:rPr>
              <a:t>•  Garantia 8 semanas: crítico 24 h · alto 3 dias · médio 10 dias úteis.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2444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0000" y="330000"/>
            <a:ext cx="9500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>
                <a:solidFill>
                  <a:srgbClr val="12163A"/>
                </a:solidFill>
                <a:latin typeface="Calibri"/>
              </a:rPr>
              <a:t>10. Critérios gerais de aceitação</a:t>
            </a:r>
          </a:p>
        </p:txBody>
      </p:sp>
      <p:sp>
        <p:nvSpPr>
          <p:cNvPr id="5" name="Rectangle 4"/>
          <p:cNvSpPr/>
          <p:nvPr/>
        </p:nvSpPr>
        <p:spPr>
          <a:xfrm>
            <a:off x="500000" y="1020000"/>
            <a:ext cx="1400000" cy="45720"/>
          </a:xfrm>
          <a:prstGeom prst="rect">
            <a:avLst/>
          </a:prstGeom>
          <a:solidFill>
            <a:srgbClr val="FFC6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400000" y="6300000"/>
            <a:ext cx="130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600"/>
              </a:spcAft>
            </a:pPr>
            <a:r>
              <a:rPr sz="1200" b="0">
                <a:solidFill>
                  <a:srgbClr val="5B6472"/>
                </a:solidFill>
                <a:latin typeface="Calibri"/>
              </a:rPr>
              <a:t>10 / 12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0000" y="6300000"/>
            <a:ext cx="600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>
                <a:solidFill>
                  <a:srgbClr val="5B6472"/>
                </a:solidFill>
                <a:latin typeface="Calibri"/>
              </a:rPr>
              <a:t>Termos de Referência · Bué de Mestres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0000" y="1400000"/>
            <a:ext cx="11200000" cy="4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1800">
                <a:solidFill>
                  <a:srgbClr val="12163A"/>
                </a:solidFill>
                <a:latin typeface="Calibri"/>
              </a:rPr>
              <a:t>•  ✓ Requisito verificado com o critério objectivo da secção 3.</a:t>
            </a:r>
          </a:p>
          <a:p>
            <a:pPr>
              <a:spcAft>
                <a:spcPts val="1400"/>
              </a:spcAft>
            </a:pPr>
            <a:r>
              <a:rPr sz="1800">
                <a:solidFill>
                  <a:srgbClr val="12163A"/>
                </a:solidFill>
                <a:latin typeface="Calibri"/>
              </a:rPr>
              <a:t>•  ✓ lint, typecheck e build de produção verdes.</a:t>
            </a:r>
          </a:p>
          <a:p>
            <a:pPr>
              <a:spcAft>
                <a:spcPts val="1400"/>
              </a:spcAft>
            </a:pPr>
            <a:r>
              <a:rPr sz="1800">
                <a:solidFill>
                  <a:srgbClr val="12163A"/>
                </a:solidFill>
                <a:latin typeface="Calibri"/>
              </a:rPr>
              <a:t>•  ✓ Testes automatizados correspondentes a passar.</a:t>
            </a:r>
          </a:p>
          <a:p>
            <a:pPr>
              <a:spcAft>
                <a:spcPts val="1400"/>
              </a:spcAft>
            </a:pPr>
            <a:r>
              <a:rPr sz="1800">
                <a:solidFill>
                  <a:srgbClr val="12163A"/>
                </a:solidFill>
                <a:latin typeface="Calibri"/>
              </a:rPr>
              <a:t>•  ✓ Sem regressão nos fluxos críticos: registo → pedido → despacho → pagamento → conclusão → avaliação.</a:t>
            </a:r>
          </a:p>
          <a:p>
            <a:pPr>
              <a:spcAft>
                <a:spcPts val="1400"/>
              </a:spcAft>
            </a:pPr>
            <a:r>
              <a:rPr sz="1800">
                <a:solidFill>
                  <a:srgbClr val="12163A"/>
                </a:solidFill>
                <a:latin typeface="Calibri"/>
              </a:rPr>
              <a:t>•  ✓ Migrações reproduzíveis em ambiente limpo.</a:t>
            </a:r>
          </a:p>
          <a:p>
            <a:pPr>
              <a:spcAft>
                <a:spcPts val="1400"/>
              </a:spcAft>
            </a:pPr>
            <a:r>
              <a:rPr sz="1800">
                <a:solidFill>
                  <a:srgbClr val="12163A"/>
                </a:solidFill>
                <a:latin typeface="Calibri"/>
              </a:rPr>
              <a:t>•  ✓ Documentação actualizada (docs/, README, runbook).</a:t>
            </a:r>
          </a:p>
          <a:p>
            <a:pPr>
              <a:spcAft>
                <a:spcPts val="1400"/>
              </a:spcAft>
            </a:pPr>
            <a:r>
              <a:rPr sz="1800">
                <a:solidFill>
                  <a:srgbClr val="12163A"/>
                </a:solidFill>
                <a:latin typeface="Calibri"/>
              </a:rPr>
              <a:t>•  ✓ Revisão de código aprovada e registada.</a:t>
            </a:r>
          </a:p>
        </p:txBody>
      </p:sp>
      <p:sp>
        <p:nvSpPr>
          <p:cNvPr id="9" name="Rectangle 8"/>
          <p:cNvSpPr/>
          <p:nvPr/>
        </p:nvSpPr>
        <p:spPr>
          <a:xfrm>
            <a:off x="500000" y="5400000"/>
            <a:ext cx="11200000" cy="1000000"/>
          </a:xfrm>
          <a:prstGeom prst="rect">
            <a:avLst/>
          </a:prstGeom>
          <a:solidFill>
            <a:srgbClr val="1216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50000" y="5580000"/>
            <a:ext cx="10700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1">
                <a:solidFill>
                  <a:srgbClr val="FFC61A"/>
                </a:solidFill>
                <a:latin typeface="Calibri"/>
              </a:rPr>
              <a:t>Uma entrega sem um destes pontos NÃO é aceite — e não desencadeia o marco de pagamento seguinte.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2444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0000" y="330000"/>
            <a:ext cx="9500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>
                <a:solidFill>
                  <a:srgbClr val="12163A"/>
                </a:solidFill>
                <a:latin typeface="Calibri"/>
              </a:rPr>
              <a:t>Anexos — pendências e decisões</a:t>
            </a:r>
          </a:p>
        </p:txBody>
      </p:sp>
      <p:sp>
        <p:nvSpPr>
          <p:cNvPr id="5" name="Rectangle 4"/>
          <p:cNvSpPr/>
          <p:nvPr/>
        </p:nvSpPr>
        <p:spPr>
          <a:xfrm>
            <a:off x="500000" y="1020000"/>
            <a:ext cx="1400000" cy="45720"/>
          </a:xfrm>
          <a:prstGeom prst="rect">
            <a:avLst/>
          </a:prstGeom>
          <a:solidFill>
            <a:srgbClr val="FFC6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400000" y="6300000"/>
            <a:ext cx="130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600"/>
              </a:spcAft>
            </a:pPr>
            <a:r>
              <a:rPr sz="1200" b="0">
                <a:solidFill>
                  <a:srgbClr val="5B6472"/>
                </a:solidFill>
                <a:latin typeface="Calibri"/>
              </a:rPr>
              <a:t>11 / 12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0000" y="6300000"/>
            <a:ext cx="600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>
                <a:solidFill>
                  <a:srgbClr val="5B6472"/>
                </a:solidFill>
                <a:latin typeface="Calibri"/>
              </a:rPr>
              <a:t>Termos de Referência · Bué de Mestres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0000" y="1300000"/>
            <a:ext cx="5400000" cy="4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1">
                <a:solidFill>
                  <a:srgbClr val="BF3A21"/>
                </a:solidFill>
                <a:latin typeface="Calibri"/>
              </a:rPr>
              <a:t>Anexo A — pendências herdadas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0000" y="1750000"/>
            <a:ext cx="5400000" cy="4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500">
                <a:solidFill>
                  <a:srgbClr val="12163A"/>
                </a:solidFill>
                <a:latin typeface="Calibri"/>
              </a:rPr>
              <a:t>•  Críticas: rota /, admin sem porta, CSS truncado (F1).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12163A"/>
                </a:solidFill>
                <a:latin typeface="Calibri"/>
              </a:rPr>
              <a:t>•  Altas: actions sem sessão, RLS parcial, jobs vs service_jobs (F1/F2).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12163A"/>
                </a:solidFill>
                <a:latin typeface="Calibri"/>
              </a:rPr>
              <a:t>•  Médias: papéis staff, push partido, tudo em demonstração, zero testes, sem worker (F2/F3).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12163A"/>
                </a:solidFill>
                <a:latin typeface="Calibri"/>
              </a:rPr>
              <a:t>•  Baixa: legais, SEO/PWA, /dev/design (F6).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00000" y="1300000"/>
            <a:ext cx="5400000" cy="4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1">
                <a:solidFill>
                  <a:srgbClr val="2444C8"/>
                </a:solidFill>
                <a:latin typeface="Calibri"/>
              </a:rPr>
              <a:t>Anexo B — decisões abertas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00000" y="1750000"/>
            <a:ext cx="5400000" cy="4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500">
                <a:solidFill>
                  <a:srgbClr val="12163A"/>
                </a:solidFill>
                <a:latin typeface="Calibri"/>
              </a:rPr>
              <a:t>•  Fornecedor de KYC (D1).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12163A"/>
                </a:solidFill>
                <a:latin typeface="Calibri"/>
              </a:rPr>
              <a:t>•  Provedor de mapas e raio do piloto.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12163A"/>
                </a:solidFill>
                <a:latin typeface="Calibri"/>
              </a:rPr>
              <a:t>•  Comissões (12/8/5%) e planos (500/1.500 MZN).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12163A"/>
                </a:solidFill>
                <a:latin typeface="Calibri"/>
              </a:rPr>
              <a:t>•  Dinheiro em mão no piloto (D6).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12163A"/>
                </a:solidFill>
                <a:latin typeface="Calibri"/>
              </a:rPr>
              <a:t>•  Entidade legal e contas M-Pesa/e-Mola (D2/D4).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12163A"/>
                </a:solidFill>
                <a:latin typeface="Calibri"/>
              </a:rPr>
              <a:t>•  Contas Google Play e Apple (D5).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216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400000" y="-700000"/>
            <a:ext cx="3200000" cy="3200000"/>
          </a:xfrm>
          <a:prstGeom prst="ellipse">
            <a:avLst/>
          </a:prstGeom>
          <a:solidFill>
            <a:srgbClr val="2444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00000" y="900000"/>
            <a:ext cx="7000000" cy="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>
                <a:solidFill>
                  <a:srgbClr val="FFC61A"/>
                </a:solidFill>
                <a:latin typeface="Calibri"/>
              </a:rPr>
              <a:t>EM UMA FRASE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00000" y="1700000"/>
            <a:ext cx="10300000" cy="2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200"/>
              </a:spcAft>
            </a:pPr>
            <a:r>
              <a:rPr sz="2600" b="1">
                <a:solidFill>
                  <a:srgbClr val="FFFFFF"/>
                </a:solidFill>
                <a:latin typeface="Calibri"/>
              </a:rPr>
              <a:t>Estes Termos de Referência transformam o projecto Bué de Mestres num contrato de conclusão: 12 áreas de requisitos com critérios objectivos, 9 entregáveis, 8 fases em 15 semanas, 7 dependências externas e uma definição de pronto que ninguém contesta.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00000" y="4300000"/>
            <a:ext cx="10300000" cy="1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000" b="0">
                <a:solidFill>
                  <a:srgbClr val="EDF0F2"/>
                </a:solidFill>
                <a:latin typeface="Calibri"/>
              </a:rPr>
              <a:t>Próximo passo: fechar as decisões D1–D7 com o proprietário, fixar montantes e datas em contrato, e arrancar pela Fase 1 (as 3 correcções críticas).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